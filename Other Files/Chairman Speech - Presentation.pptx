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7"/>
    <p:sldId id="257" r:id="rId68"/>
    <p:sldId id="258" r:id="rId69"/>
    <p:sldId id="259" r:id="rId70"/>
    <p:sldId id="260" r:id="rId71"/>
    <p:sldId id="261" r:id="rId72"/>
    <p:sldId id="262" r:id="rId73"/>
    <p:sldId id="263" r:id="rId74"/>
    <p:sldId id="264" r:id="rId75"/>
    <p:sldId id="265" r:id="rId76"/>
    <p:sldId id="266" r:id="rId77"/>
    <p:sldId id="267" r:id="rId78"/>
    <p:sldId id="268" r:id="rId79"/>
    <p:sldId id="269" r:id="rId80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Archivo Black" charset="1" panose="020B0A03020202020B04"/>
      <p:regular r:id="rId10"/>
    </p:embeddedFont>
    <p:embeddedFont>
      <p:font typeface="League Spartan" charset="1" panose="00000800000000000000"/>
      <p:regular r:id="rId11"/>
    </p:embeddedFont>
    <p:embeddedFont>
      <p:font typeface="Codec Pro ExtraBold" charset="1" panose="00000700000000000000"/>
      <p:regular r:id="rId12"/>
    </p:embeddedFont>
    <p:embeddedFont>
      <p:font typeface="Codec Pro ExtraBold Bold" charset="1" panose="00000900000000000000"/>
      <p:regular r:id="rId13"/>
    </p:embeddedFont>
    <p:embeddedFont>
      <p:font typeface="Arial" charset="1" panose="020B0502020202020204"/>
      <p:regular r:id="rId14"/>
    </p:embeddedFont>
    <p:embeddedFont>
      <p:font typeface="Arial Bold" charset="1" panose="020B0802020202020204"/>
      <p:regular r:id="rId15"/>
    </p:embeddedFont>
    <p:embeddedFont>
      <p:font typeface="Arial Italics" charset="1" panose="020B0502020202090204"/>
      <p:regular r:id="rId16"/>
    </p:embeddedFont>
    <p:embeddedFont>
      <p:font typeface="Arial Bold Italics" charset="1" panose="020B0802020202090204"/>
      <p:regular r:id="rId17"/>
    </p:embeddedFont>
    <p:embeddedFont>
      <p:font typeface="Garet" charset="1" panose="00000000000000000000"/>
      <p:regular r:id="rId18"/>
    </p:embeddedFont>
    <p:embeddedFont>
      <p:font typeface="Garet Bold" charset="1" panose="00000000000000000000"/>
      <p:regular r:id="rId19"/>
    </p:embeddedFont>
    <p:embeddedFont>
      <p:font typeface="Garet Italics" charset="1" panose="00000000000000000000"/>
      <p:regular r:id="rId20"/>
    </p:embeddedFont>
    <p:embeddedFont>
      <p:font typeface="Garet Bold Italics" charset="1" panose="00000000000000000000"/>
      <p:regular r:id="rId21"/>
    </p:embeddedFont>
    <p:embeddedFont>
      <p:font typeface="Garet Light" charset="1" panose="00000000000000000000"/>
      <p:regular r:id="rId22"/>
    </p:embeddedFont>
    <p:embeddedFont>
      <p:font typeface="Garet Ultra-Bold" charset="1" panose="00000000000000000000"/>
      <p:regular r:id="rId23"/>
    </p:embeddedFont>
    <p:embeddedFont>
      <p:font typeface="Garet Ultra-Bold Italics" charset="1" panose="00000000000000000000"/>
      <p:regular r:id="rId24"/>
    </p:embeddedFont>
    <p:embeddedFont>
      <p:font typeface="Garet Heavy" charset="1" panose="00000000000000000000"/>
      <p:regular r:id="rId25"/>
    </p:embeddedFont>
    <p:embeddedFont>
      <p:font typeface="Garet Heavy Italics" charset="1" panose="00000000000000000000"/>
      <p:regular r:id="rId26"/>
    </p:embeddedFont>
    <p:embeddedFont>
      <p:font typeface="Poppins" charset="1" panose="00000500000000000000"/>
      <p:regular r:id="rId27"/>
    </p:embeddedFont>
    <p:embeddedFont>
      <p:font typeface="Poppins Bold" charset="1" panose="00000800000000000000"/>
      <p:regular r:id="rId28"/>
    </p:embeddedFont>
    <p:embeddedFont>
      <p:font typeface="Poppins Italics" charset="1" panose="00000500000000000000"/>
      <p:regular r:id="rId29"/>
    </p:embeddedFont>
    <p:embeddedFont>
      <p:font typeface="Poppins Bold Italics" charset="1" panose="00000800000000000000"/>
      <p:regular r:id="rId30"/>
    </p:embeddedFont>
    <p:embeddedFont>
      <p:font typeface="Poppins Thin" charset="1" panose="00000300000000000000"/>
      <p:regular r:id="rId31"/>
    </p:embeddedFont>
    <p:embeddedFont>
      <p:font typeface="Poppins Thin Italics" charset="1" panose="00000300000000000000"/>
      <p:regular r:id="rId32"/>
    </p:embeddedFont>
    <p:embeddedFont>
      <p:font typeface="Poppins Extra-Light" charset="1" panose="00000300000000000000"/>
      <p:regular r:id="rId33"/>
    </p:embeddedFont>
    <p:embeddedFont>
      <p:font typeface="Poppins Extra-Light Italics" charset="1" panose="00000300000000000000"/>
      <p:regular r:id="rId34"/>
    </p:embeddedFont>
    <p:embeddedFont>
      <p:font typeface="Poppins Light" charset="1" panose="00000400000000000000"/>
      <p:regular r:id="rId35"/>
    </p:embeddedFont>
    <p:embeddedFont>
      <p:font typeface="Poppins Light Italics" charset="1" panose="00000400000000000000"/>
      <p:regular r:id="rId36"/>
    </p:embeddedFont>
    <p:embeddedFont>
      <p:font typeface="Poppins Medium" charset="1" panose="00000600000000000000"/>
      <p:regular r:id="rId37"/>
    </p:embeddedFont>
    <p:embeddedFont>
      <p:font typeface="Poppins Medium Italics" charset="1" panose="00000600000000000000"/>
      <p:regular r:id="rId38"/>
    </p:embeddedFont>
    <p:embeddedFont>
      <p:font typeface="Poppins Semi-Bold" charset="1" panose="00000700000000000000"/>
      <p:regular r:id="rId39"/>
    </p:embeddedFont>
    <p:embeddedFont>
      <p:font typeface="Poppins Semi-Bold Italics" charset="1" panose="00000700000000000000"/>
      <p:regular r:id="rId40"/>
    </p:embeddedFont>
    <p:embeddedFont>
      <p:font typeface="Poppins Ultra-Bold" charset="1" panose="00000900000000000000"/>
      <p:regular r:id="rId41"/>
    </p:embeddedFont>
    <p:embeddedFont>
      <p:font typeface="Poppins Ultra-Bold Italics" charset="1" panose="00000900000000000000"/>
      <p:regular r:id="rId42"/>
    </p:embeddedFont>
    <p:embeddedFont>
      <p:font typeface="Poppins Heavy" charset="1" panose="00000A00000000000000"/>
      <p:regular r:id="rId43"/>
    </p:embeddedFont>
    <p:embeddedFont>
      <p:font typeface="Poppins Heavy Italics" charset="1" panose="00000A00000000000000"/>
      <p:regular r:id="rId44"/>
    </p:embeddedFont>
    <p:embeddedFont>
      <p:font typeface="Open Sauce" charset="1" panose="00000500000000000000"/>
      <p:regular r:id="rId45"/>
    </p:embeddedFont>
    <p:embeddedFont>
      <p:font typeface="Open Sauce Bold" charset="1" panose="00000800000000000000"/>
      <p:regular r:id="rId46"/>
    </p:embeddedFont>
    <p:embeddedFont>
      <p:font typeface="Open Sauce Italics" charset="1" panose="00000500000000000000"/>
      <p:regular r:id="rId47"/>
    </p:embeddedFont>
    <p:embeddedFont>
      <p:font typeface="Open Sauce Bold Italics" charset="1" panose="00000800000000000000"/>
      <p:regular r:id="rId48"/>
    </p:embeddedFont>
    <p:embeddedFont>
      <p:font typeface="Open Sauce Light" charset="1" panose="00000400000000000000"/>
      <p:regular r:id="rId49"/>
    </p:embeddedFont>
    <p:embeddedFont>
      <p:font typeface="Open Sauce Light Italics" charset="1" panose="00000400000000000000"/>
      <p:regular r:id="rId50"/>
    </p:embeddedFont>
    <p:embeddedFont>
      <p:font typeface="Open Sauce Medium" charset="1" panose="00000600000000000000"/>
      <p:regular r:id="rId51"/>
    </p:embeddedFont>
    <p:embeddedFont>
      <p:font typeface="Open Sauce Medium Italics" charset="1" panose="00000600000000000000"/>
      <p:regular r:id="rId52"/>
    </p:embeddedFont>
    <p:embeddedFont>
      <p:font typeface="Open Sauce Semi-Bold" charset="1" panose="00000700000000000000"/>
      <p:regular r:id="rId53"/>
    </p:embeddedFont>
    <p:embeddedFont>
      <p:font typeface="Open Sauce Semi-Bold Italics" charset="1" panose="00000700000000000000"/>
      <p:regular r:id="rId54"/>
    </p:embeddedFont>
    <p:embeddedFont>
      <p:font typeface="Open Sauce Heavy" charset="1" panose="00000A00000000000000"/>
      <p:regular r:id="rId55"/>
    </p:embeddedFont>
    <p:embeddedFont>
      <p:font typeface="Open Sauce Heavy Italics" charset="1" panose="00000A00000000000000"/>
      <p:regular r:id="rId56"/>
    </p:embeddedFont>
    <p:embeddedFont>
      <p:font typeface="Lato" charset="1" panose="020F0502020204030203"/>
      <p:regular r:id="rId57"/>
    </p:embeddedFont>
    <p:embeddedFont>
      <p:font typeface="Lato Bold" charset="1" panose="020F0502020204030203"/>
      <p:regular r:id="rId58"/>
    </p:embeddedFont>
    <p:embeddedFont>
      <p:font typeface="Lato Italics" charset="1" panose="020F0502020204030203"/>
      <p:regular r:id="rId59"/>
    </p:embeddedFont>
    <p:embeddedFont>
      <p:font typeface="Lato Bold Italics" charset="1" panose="020F0502020204030203"/>
      <p:regular r:id="rId60"/>
    </p:embeddedFont>
    <p:embeddedFont>
      <p:font typeface="Lato Thin" charset="1" panose="020F0502020204030203"/>
      <p:regular r:id="rId61"/>
    </p:embeddedFont>
    <p:embeddedFont>
      <p:font typeface="Lato Thin Italics" charset="1" panose="020F0502020204030203"/>
      <p:regular r:id="rId62"/>
    </p:embeddedFont>
    <p:embeddedFont>
      <p:font typeface="Lato Light" charset="1" panose="020F0502020204030203"/>
      <p:regular r:id="rId63"/>
    </p:embeddedFont>
    <p:embeddedFont>
      <p:font typeface="Lato Light Italics" charset="1" panose="020F0502020204030203"/>
      <p:regular r:id="rId64"/>
    </p:embeddedFont>
    <p:embeddedFont>
      <p:font typeface="Lato Heavy" charset="1" panose="020F0502020204030203"/>
      <p:regular r:id="rId65"/>
    </p:embeddedFont>
    <p:embeddedFont>
      <p:font typeface="Lato Heavy Italics" charset="1" panose="020F0502020204030203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fonts/font6.fntdata" Type="http://schemas.openxmlformats.org/officeDocument/2006/relationships/font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67" Target="slides/slide1.xml" Type="http://schemas.openxmlformats.org/officeDocument/2006/relationships/slide"/><Relationship Id="rId68" Target="slides/slide2.xml" Type="http://schemas.openxmlformats.org/officeDocument/2006/relationships/slide"/><Relationship Id="rId69" Target="slides/slide3.xml" Type="http://schemas.openxmlformats.org/officeDocument/2006/relationships/slide"/><Relationship Id="rId7" Target="fonts/font7.fntdata" Type="http://schemas.openxmlformats.org/officeDocument/2006/relationships/font"/><Relationship Id="rId70" Target="slides/slide4.xml" Type="http://schemas.openxmlformats.org/officeDocument/2006/relationships/slide"/><Relationship Id="rId71" Target="slides/slide5.xml" Type="http://schemas.openxmlformats.org/officeDocument/2006/relationships/slide"/><Relationship Id="rId72" Target="slides/slide6.xml" Type="http://schemas.openxmlformats.org/officeDocument/2006/relationships/slide"/><Relationship Id="rId73" Target="slides/slide7.xml" Type="http://schemas.openxmlformats.org/officeDocument/2006/relationships/slide"/><Relationship Id="rId74" Target="slides/slide8.xml" Type="http://schemas.openxmlformats.org/officeDocument/2006/relationships/slide"/><Relationship Id="rId75" Target="slides/slide9.xml" Type="http://schemas.openxmlformats.org/officeDocument/2006/relationships/slide"/><Relationship Id="rId76" Target="slides/slide10.xml" Type="http://schemas.openxmlformats.org/officeDocument/2006/relationships/slide"/><Relationship Id="rId77" Target="slides/slide11.xml" Type="http://schemas.openxmlformats.org/officeDocument/2006/relationships/slide"/><Relationship Id="rId78" Target="slides/slide12.xml" Type="http://schemas.openxmlformats.org/officeDocument/2006/relationships/slide"/><Relationship Id="rId79" Target="slides/slide13.xml" Type="http://schemas.openxmlformats.org/officeDocument/2006/relationships/slide"/><Relationship Id="rId8" Target="fonts/font8.fntdata" Type="http://schemas.openxmlformats.org/officeDocument/2006/relationships/font"/><Relationship Id="rId80" Target="slides/slide14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0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jpeg" Type="http://schemas.openxmlformats.org/officeDocument/2006/relationships/image"/><Relationship Id="rId6" Target="../media/image26.jpeg" Type="http://schemas.openxmlformats.org/officeDocument/2006/relationships/image"/><Relationship Id="rId7" Target="../media/image27.jpeg" Type="http://schemas.openxmlformats.org/officeDocument/2006/relationships/image"/><Relationship Id="rId8" Target="../media/image28.jpe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30887" y="1516034"/>
            <a:ext cx="7218503" cy="137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265"/>
              </a:lnSpc>
              <a:spcBef>
                <a:spcPct val="0"/>
              </a:spcBef>
            </a:pPr>
            <a:r>
              <a:rPr lang="en-US" sz="8046">
                <a:solidFill>
                  <a:srgbClr val="1C5739"/>
                </a:solidFill>
                <a:latin typeface="Lato Bold"/>
              </a:rPr>
              <a:t>CAPSTONE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30887" y="2710980"/>
            <a:ext cx="10991397" cy="161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3203"/>
              </a:lnSpc>
              <a:spcBef>
                <a:spcPct val="0"/>
              </a:spcBef>
            </a:pPr>
            <a:r>
              <a:rPr lang="en-US" sz="9430">
                <a:solidFill>
                  <a:srgbClr val="1C5739"/>
                </a:solidFill>
                <a:latin typeface="League Spartan"/>
              </a:rPr>
              <a:t>PRESENTATION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3330927" y="4502150"/>
            <a:ext cx="10101546" cy="102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789005" y="36830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30908" y="4770731"/>
            <a:ext cx="11763967" cy="133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193"/>
              </a:lnSpc>
              <a:spcBef>
                <a:spcPct val="0"/>
              </a:spcBef>
            </a:pPr>
            <a:r>
              <a:rPr lang="en-US" sz="3709">
                <a:solidFill>
                  <a:srgbClr val="000000"/>
                </a:solidFill>
                <a:latin typeface="Poppins"/>
              </a:rPr>
              <a:t>EXTRACTION OF KEYWORDS AND SUMMARIZATION OF THE CHAIRMAN'S SPEECH ON ANNUAL REPORTS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92495" y="7573922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87962" y="5985119"/>
            <a:ext cx="2085109" cy="208510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60220" y="1728186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062138" y="-3177882"/>
            <a:ext cx="8637895" cy="86378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61103" y="1342561"/>
            <a:ext cx="1164616" cy="1910409"/>
            <a:chOff x="0" y="0"/>
            <a:chExt cx="1451520" cy="238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1394587" y="1366393"/>
                  </a:moveTo>
                  <a:lnTo>
                    <a:pt x="395351" y="2365883"/>
                  </a:lnTo>
                  <a:cubicBezTo>
                    <a:pt x="315849" y="2444877"/>
                    <a:pt x="186944" y="2444877"/>
                    <a:pt x="107315" y="2365883"/>
                  </a:cubicBezTo>
                  <a:lnTo>
                    <a:pt x="0" y="2258441"/>
                  </a:lnTo>
                  <a:lnTo>
                    <a:pt x="891286" y="1366393"/>
                  </a:lnTo>
                  <a:cubicBezTo>
                    <a:pt x="970788" y="1286891"/>
                    <a:pt x="970788" y="1157859"/>
                    <a:pt x="891286" y="1078357"/>
                  </a:cubicBezTo>
                  <a:lnTo>
                    <a:pt x="0" y="186944"/>
                  </a:lnTo>
                  <a:lnTo>
                    <a:pt x="107442" y="79502"/>
                  </a:lnTo>
                  <a:cubicBezTo>
                    <a:pt x="186944" y="0"/>
                    <a:pt x="315849" y="0"/>
                    <a:pt x="395478" y="79502"/>
                  </a:cubicBezTo>
                  <a:lnTo>
                    <a:pt x="1394714" y="1078357"/>
                  </a:lnTo>
                  <a:cubicBezTo>
                    <a:pt x="1474216" y="1157859"/>
                    <a:pt x="1474216" y="1286891"/>
                    <a:pt x="1394714" y="1366393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01480" y="1995347"/>
            <a:ext cx="325815" cy="605415"/>
            <a:chOff x="0" y="0"/>
            <a:chExt cx="406080" cy="75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-32385"/>
              <a:ext cx="446659" cy="842137"/>
            </a:xfrm>
            <a:custGeom>
              <a:avLst/>
              <a:gdLst/>
              <a:ahLst/>
              <a:cxnLst/>
              <a:rect r="r" b="b" t="t" l="l"/>
              <a:pathLst>
                <a:path h="842137" w="446659">
                  <a:moveTo>
                    <a:pt x="350393" y="246126"/>
                  </a:moveTo>
                  <a:lnTo>
                    <a:pt x="165354" y="60960"/>
                  </a:lnTo>
                  <a:cubicBezTo>
                    <a:pt x="104394" y="0"/>
                    <a:pt x="0" y="42926"/>
                    <a:pt x="0" y="129413"/>
                  </a:cubicBezTo>
                  <a:lnTo>
                    <a:pt x="0" y="712724"/>
                  </a:lnTo>
                  <a:cubicBezTo>
                    <a:pt x="0" y="799211"/>
                    <a:pt x="104394" y="842137"/>
                    <a:pt x="165354" y="781177"/>
                  </a:cubicBezTo>
                  <a:lnTo>
                    <a:pt x="350393" y="596138"/>
                  </a:lnTo>
                  <a:cubicBezTo>
                    <a:pt x="446659" y="499237"/>
                    <a:pt x="446659" y="342519"/>
                    <a:pt x="350393" y="246126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907654" y="1519911"/>
            <a:ext cx="5916664" cy="1537801"/>
            <a:chOff x="0" y="0"/>
            <a:chExt cx="7374240" cy="1916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31151" cy="1963166"/>
            </a:xfrm>
            <a:custGeom>
              <a:avLst/>
              <a:gdLst/>
              <a:ahLst/>
              <a:cxnLst/>
              <a:rect r="r" b="b" t="t" l="l"/>
              <a:pathLst>
                <a:path h="1963166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837565"/>
                  </a:lnTo>
                  <a:cubicBezTo>
                    <a:pt x="877316" y="877062"/>
                    <a:pt x="897636" y="929386"/>
                    <a:pt x="897636" y="981583"/>
                  </a:cubicBezTo>
                  <a:cubicBezTo>
                    <a:pt x="897636" y="1033780"/>
                    <a:pt x="877951" y="1085596"/>
                    <a:pt x="837819" y="1125601"/>
                  </a:cubicBezTo>
                  <a:lnTo>
                    <a:pt x="635" y="1963166"/>
                  </a:lnTo>
                  <a:lnTo>
                    <a:pt x="6464427" y="1963166"/>
                  </a:lnTo>
                  <a:lnTo>
                    <a:pt x="7431151" y="981583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14512" y="3230440"/>
            <a:ext cx="1165193" cy="1910409"/>
            <a:chOff x="0" y="0"/>
            <a:chExt cx="1452240" cy="2381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19685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78994" y="1078484"/>
                  </a:moveTo>
                  <a:lnTo>
                    <a:pt x="1078611" y="78994"/>
                  </a:lnTo>
                  <a:cubicBezTo>
                    <a:pt x="1158240" y="0"/>
                    <a:pt x="1287145" y="0"/>
                    <a:pt x="1366774" y="78994"/>
                  </a:cubicBezTo>
                  <a:lnTo>
                    <a:pt x="1474216" y="186436"/>
                  </a:lnTo>
                  <a:lnTo>
                    <a:pt x="582549" y="1078484"/>
                  </a:lnTo>
                  <a:cubicBezTo>
                    <a:pt x="502920" y="1157986"/>
                    <a:pt x="502920" y="1287018"/>
                    <a:pt x="582549" y="1366520"/>
                  </a:cubicBezTo>
                  <a:lnTo>
                    <a:pt x="1474216" y="2257933"/>
                  </a:lnTo>
                  <a:lnTo>
                    <a:pt x="1366774" y="2365375"/>
                  </a:lnTo>
                  <a:cubicBezTo>
                    <a:pt x="1287145" y="2444877"/>
                    <a:pt x="1158240" y="2444877"/>
                    <a:pt x="1078611" y="2365375"/>
                  </a:cubicBezTo>
                  <a:lnTo>
                    <a:pt x="78994" y="1366012"/>
                  </a:lnTo>
                  <a:cubicBezTo>
                    <a:pt x="0" y="1286510"/>
                    <a:pt x="0" y="1158113"/>
                    <a:pt x="78994" y="1078484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01958" y="3883226"/>
            <a:ext cx="325815" cy="605415"/>
            <a:chOff x="0" y="0"/>
            <a:chExt cx="406080" cy="75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-24257" y="-32385"/>
              <a:ext cx="447294" cy="842264"/>
            </a:xfrm>
            <a:custGeom>
              <a:avLst/>
              <a:gdLst/>
              <a:ahLst/>
              <a:cxnLst/>
              <a:rect r="r" b="b" t="t" l="l"/>
              <a:pathLst>
                <a:path h="842264" w="447294">
                  <a:moveTo>
                    <a:pt x="96901" y="596138"/>
                  </a:moveTo>
                  <a:lnTo>
                    <a:pt x="281940" y="781304"/>
                  </a:lnTo>
                  <a:cubicBezTo>
                    <a:pt x="342900" y="842264"/>
                    <a:pt x="447294" y="799338"/>
                    <a:pt x="447294" y="712851"/>
                  </a:cubicBezTo>
                  <a:lnTo>
                    <a:pt x="447294" y="129413"/>
                  </a:lnTo>
                  <a:cubicBezTo>
                    <a:pt x="447294" y="42926"/>
                    <a:pt x="342900" y="0"/>
                    <a:pt x="281940" y="60960"/>
                  </a:cubicBezTo>
                  <a:lnTo>
                    <a:pt x="96901" y="246126"/>
                  </a:lnTo>
                  <a:cubicBezTo>
                    <a:pt x="0" y="343027"/>
                    <a:pt x="0" y="499237"/>
                    <a:pt x="96901" y="59613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670275" y="3407790"/>
            <a:ext cx="6257499" cy="1537801"/>
            <a:chOff x="0" y="0"/>
            <a:chExt cx="7799040" cy="1916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56500" cy="1963166"/>
            </a:xfrm>
            <a:custGeom>
              <a:avLst/>
              <a:gdLst/>
              <a:ahLst/>
              <a:cxnLst/>
              <a:rect r="r" b="b" t="t" l="l"/>
              <a:pathLst>
                <a:path h="1963166" w="7856500">
                  <a:moveTo>
                    <a:pt x="1022417" y="1963166"/>
                  </a:moveTo>
                  <a:lnTo>
                    <a:pt x="7856500" y="1963166"/>
                  </a:lnTo>
                  <a:lnTo>
                    <a:pt x="6973647" y="1125601"/>
                  </a:lnTo>
                  <a:cubicBezTo>
                    <a:pt x="6931892" y="1086104"/>
                    <a:pt x="6910409" y="1033780"/>
                    <a:pt x="6910409" y="981583"/>
                  </a:cubicBezTo>
                  <a:cubicBezTo>
                    <a:pt x="6910409" y="929386"/>
                    <a:pt x="6931354" y="877570"/>
                    <a:pt x="6973647" y="837565"/>
                  </a:cubicBezTo>
                  <a:lnTo>
                    <a:pt x="7855992" y="0"/>
                  </a:lnTo>
                  <a:lnTo>
                    <a:pt x="1022417" y="0"/>
                  </a:lnTo>
                  <a:lnTo>
                    <a:pt x="0" y="980948"/>
                  </a:lnTo>
                  <a:lnTo>
                    <a:pt x="1022417" y="1963039"/>
                  </a:ln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09182" y="5460012"/>
            <a:ext cx="1164616" cy="1910409"/>
            <a:chOff x="0" y="0"/>
            <a:chExt cx="1451520" cy="2381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1394587" y="1366393"/>
                  </a:moveTo>
                  <a:lnTo>
                    <a:pt x="395351" y="2365883"/>
                  </a:lnTo>
                  <a:cubicBezTo>
                    <a:pt x="315849" y="2444877"/>
                    <a:pt x="186944" y="2444877"/>
                    <a:pt x="107315" y="2365883"/>
                  </a:cubicBezTo>
                  <a:lnTo>
                    <a:pt x="0" y="2258441"/>
                  </a:lnTo>
                  <a:lnTo>
                    <a:pt x="891286" y="1366393"/>
                  </a:lnTo>
                  <a:cubicBezTo>
                    <a:pt x="970788" y="1286891"/>
                    <a:pt x="970788" y="1157859"/>
                    <a:pt x="891286" y="1078357"/>
                  </a:cubicBezTo>
                  <a:lnTo>
                    <a:pt x="0" y="186944"/>
                  </a:lnTo>
                  <a:lnTo>
                    <a:pt x="107442" y="79502"/>
                  </a:lnTo>
                  <a:cubicBezTo>
                    <a:pt x="186944" y="0"/>
                    <a:pt x="315849" y="0"/>
                    <a:pt x="395478" y="79502"/>
                  </a:cubicBezTo>
                  <a:lnTo>
                    <a:pt x="1394714" y="1078357"/>
                  </a:lnTo>
                  <a:cubicBezTo>
                    <a:pt x="1474216" y="1157859"/>
                    <a:pt x="1474216" y="1286891"/>
                    <a:pt x="1394714" y="1366393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9560" y="6112798"/>
            <a:ext cx="325815" cy="605415"/>
            <a:chOff x="0" y="0"/>
            <a:chExt cx="406080" cy="75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-32385"/>
              <a:ext cx="446659" cy="842137"/>
            </a:xfrm>
            <a:custGeom>
              <a:avLst/>
              <a:gdLst/>
              <a:ahLst/>
              <a:cxnLst/>
              <a:rect r="r" b="b" t="t" l="l"/>
              <a:pathLst>
                <a:path h="842137" w="446659">
                  <a:moveTo>
                    <a:pt x="350393" y="246126"/>
                  </a:moveTo>
                  <a:lnTo>
                    <a:pt x="165354" y="60960"/>
                  </a:lnTo>
                  <a:cubicBezTo>
                    <a:pt x="104394" y="0"/>
                    <a:pt x="0" y="42926"/>
                    <a:pt x="0" y="129413"/>
                  </a:cubicBezTo>
                  <a:lnTo>
                    <a:pt x="0" y="712724"/>
                  </a:lnTo>
                  <a:cubicBezTo>
                    <a:pt x="0" y="799211"/>
                    <a:pt x="104394" y="842137"/>
                    <a:pt x="165354" y="781177"/>
                  </a:cubicBezTo>
                  <a:lnTo>
                    <a:pt x="350393" y="596138"/>
                  </a:lnTo>
                  <a:cubicBezTo>
                    <a:pt x="446659" y="499237"/>
                    <a:pt x="446659" y="342519"/>
                    <a:pt x="350393" y="246126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55734" y="5637362"/>
            <a:ext cx="5916664" cy="1537801"/>
            <a:chOff x="0" y="0"/>
            <a:chExt cx="7374240" cy="1916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1151" cy="1963166"/>
            </a:xfrm>
            <a:custGeom>
              <a:avLst/>
              <a:gdLst/>
              <a:ahLst/>
              <a:cxnLst/>
              <a:rect r="r" b="b" t="t" l="l"/>
              <a:pathLst>
                <a:path h="1963166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837565"/>
                  </a:lnTo>
                  <a:cubicBezTo>
                    <a:pt x="877316" y="877062"/>
                    <a:pt x="897636" y="929386"/>
                    <a:pt x="897636" y="981583"/>
                  </a:cubicBezTo>
                  <a:cubicBezTo>
                    <a:pt x="897636" y="1033780"/>
                    <a:pt x="877951" y="1085596"/>
                    <a:pt x="837819" y="1125601"/>
                  </a:cubicBezTo>
                  <a:lnTo>
                    <a:pt x="635" y="1963166"/>
                  </a:lnTo>
                  <a:lnTo>
                    <a:pt x="6464427" y="1963166"/>
                  </a:lnTo>
                  <a:lnTo>
                    <a:pt x="7431151" y="981583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762591" y="7347891"/>
            <a:ext cx="1165193" cy="1910409"/>
            <a:chOff x="0" y="0"/>
            <a:chExt cx="1452240" cy="2381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9685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78994" y="1078484"/>
                  </a:moveTo>
                  <a:lnTo>
                    <a:pt x="1078611" y="78994"/>
                  </a:lnTo>
                  <a:cubicBezTo>
                    <a:pt x="1158240" y="0"/>
                    <a:pt x="1287145" y="0"/>
                    <a:pt x="1366774" y="78994"/>
                  </a:cubicBezTo>
                  <a:lnTo>
                    <a:pt x="1474216" y="186436"/>
                  </a:lnTo>
                  <a:lnTo>
                    <a:pt x="582549" y="1078484"/>
                  </a:lnTo>
                  <a:cubicBezTo>
                    <a:pt x="502920" y="1157986"/>
                    <a:pt x="502920" y="1287018"/>
                    <a:pt x="582549" y="1366520"/>
                  </a:cubicBezTo>
                  <a:lnTo>
                    <a:pt x="1474216" y="2257933"/>
                  </a:lnTo>
                  <a:lnTo>
                    <a:pt x="1366774" y="2365375"/>
                  </a:lnTo>
                  <a:cubicBezTo>
                    <a:pt x="1287145" y="2444877"/>
                    <a:pt x="1158240" y="2444877"/>
                    <a:pt x="1078611" y="2365375"/>
                  </a:cubicBezTo>
                  <a:lnTo>
                    <a:pt x="78994" y="1366012"/>
                  </a:lnTo>
                  <a:cubicBezTo>
                    <a:pt x="0" y="1286510"/>
                    <a:pt x="0" y="1158113"/>
                    <a:pt x="78994" y="1078484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450038" y="8000677"/>
            <a:ext cx="325815" cy="605415"/>
            <a:chOff x="0" y="0"/>
            <a:chExt cx="406080" cy="75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24257" y="-32385"/>
              <a:ext cx="447294" cy="842264"/>
            </a:xfrm>
            <a:custGeom>
              <a:avLst/>
              <a:gdLst/>
              <a:ahLst/>
              <a:cxnLst/>
              <a:rect r="r" b="b" t="t" l="l"/>
              <a:pathLst>
                <a:path h="842264" w="447294">
                  <a:moveTo>
                    <a:pt x="96901" y="596138"/>
                  </a:moveTo>
                  <a:lnTo>
                    <a:pt x="281940" y="781304"/>
                  </a:lnTo>
                  <a:cubicBezTo>
                    <a:pt x="342900" y="842264"/>
                    <a:pt x="447294" y="799338"/>
                    <a:pt x="447294" y="712851"/>
                  </a:cubicBezTo>
                  <a:lnTo>
                    <a:pt x="447294" y="129413"/>
                  </a:lnTo>
                  <a:cubicBezTo>
                    <a:pt x="447294" y="42926"/>
                    <a:pt x="342900" y="0"/>
                    <a:pt x="281940" y="60960"/>
                  </a:cubicBezTo>
                  <a:lnTo>
                    <a:pt x="96901" y="246126"/>
                  </a:lnTo>
                  <a:cubicBezTo>
                    <a:pt x="0" y="343027"/>
                    <a:pt x="0" y="499237"/>
                    <a:pt x="96901" y="59613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518354" y="7525241"/>
            <a:ext cx="5918974" cy="1537801"/>
            <a:chOff x="0" y="0"/>
            <a:chExt cx="7377120" cy="1916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34580" cy="1963166"/>
            </a:xfrm>
            <a:custGeom>
              <a:avLst/>
              <a:gdLst/>
              <a:ahLst/>
              <a:cxnLst/>
              <a:rect r="r" b="b" t="t" l="l"/>
              <a:pathLst>
                <a:path h="1963166" w="7434580">
                  <a:moveTo>
                    <a:pt x="967105" y="1963166"/>
                  </a:moveTo>
                  <a:lnTo>
                    <a:pt x="7434580" y="1963166"/>
                  </a:lnTo>
                  <a:lnTo>
                    <a:pt x="6596380" y="1125601"/>
                  </a:lnTo>
                  <a:cubicBezTo>
                    <a:pt x="6556883" y="1086104"/>
                    <a:pt x="6536563" y="1033780"/>
                    <a:pt x="6536563" y="981583"/>
                  </a:cubicBezTo>
                  <a:cubicBezTo>
                    <a:pt x="6536563" y="929386"/>
                    <a:pt x="6556375" y="877570"/>
                    <a:pt x="6596380" y="837565"/>
                  </a:cubicBezTo>
                  <a:lnTo>
                    <a:pt x="7434072" y="0"/>
                  </a:lnTo>
                  <a:lnTo>
                    <a:pt x="967105" y="0"/>
                  </a:lnTo>
                  <a:lnTo>
                    <a:pt x="0" y="980948"/>
                  </a:lnTo>
                  <a:lnTo>
                    <a:pt x="967105" y="1963039"/>
                  </a:lnTo>
                  <a:close/>
                </a:path>
              </a:pathLst>
            </a:custGeom>
            <a:solidFill>
              <a:srgbClr val="397D5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546853" y="30628"/>
            <a:ext cx="5605439" cy="194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78"/>
              </a:lnSpc>
              <a:spcBef>
                <a:spcPct val="0"/>
              </a:spcBef>
            </a:pPr>
            <a:r>
              <a:rPr lang="en-US" sz="5346" spc="523">
                <a:solidFill>
                  <a:srgbClr val="FFFFFF"/>
                </a:solidFill>
                <a:latin typeface="Arial"/>
              </a:rPr>
              <a:t>Business Objectives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8098" y="1548385"/>
            <a:ext cx="4433517" cy="139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3"/>
              </a:lnSpc>
              <a:spcBef>
                <a:spcPct val="0"/>
              </a:spcBef>
            </a:pPr>
            <a:r>
              <a:rPr lang="en-US" sz="3850" spc="377">
                <a:solidFill>
                  <a:srgbClr val="FFFFFF"/>
                </a:solidFill>
                <a:latin typeface="Arial"/>
              </a:rPr>
              <a:t>Business Problem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63363" y="1852472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79705" y="3714588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</a:rPr>
              <a:t>02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211443" y="5969923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27784" y="7832039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5832" y="2108872"/>
            <a:ext cx="5936460" cy="177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sz="2096" spc="205">
                <a:solidFill>
                  <a:srgbClr val="FFFFFF"/>
                </a:solidFill>
                <a:latin typeface="Open Sauce"/>
              </a:rPr>
              <a:t>Provide investors with a tool that streamlines the investment decision-making process, improving efficiency and aiding in the pursuit of high-return, lower-risk investments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28326" y="3676488"/>
            <a:ext cx="3686185" cy="8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17"/>
              </a:lnSpc>
              <a:spcBef>
                <a:spcPct val="0"/>
              </a:spcBef>
            </a:pPr>
            <a:r>
              <a:rPr lang="en-US" sz="4650" spc="455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88098" y="5794619"/>
            <a:ext cx="3686185" cy="93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31"/>
              </a:lnSpc>
              <a:spcBef>
                <a:spcPct val="0"/>
              </a:spcBef>
            </a:pPr>
            <a:r>
              <a:rPr lang="en-US" sz="4950" spc="485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630705" y="7876137"/>
            <a:ext cx="3686185" cy="75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9"/>
              </a:lnSpc>
              <a:spcBef>
                <a:spcPct val="0"/>
              </a:spcBef>
            </a:pPr>
            <a:r>
              <a:rPr lang="en-US" sz="4050" spc="396">
                <a:solidFill>
                  <a:srgbClr val="FFFFFF"/>
                </a:solidFill>
                <a:latin typeface="Arial"/>
              </a:rPr>
              <a:t>Key features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4907" y="902469"/>
            <a:ext cx="5768579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1C5739"/>
                </a:solidFill>
                <a:latin typeface="League Spartan"/>
              </a:rPr>
              <a:t>DATA COLLECTION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3011674" y="1806551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336539" cy="10287000"/>
            <a:chOff x="0" y="0"/>
            <a:chExt cx="615385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53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15385">
                  <a:moveTo>
                    <a:pt x="0" y="0"/>
                  </a:moveTo>
                  <a:lnTo>
                    <a:pt x="615385" y="0"/>
                  </a:lnTo>
                  <a:lnTo>
                    <a:pt x="6153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1538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361786" y="1028700"/>
            <a:ext cx="5613198" cy="7543282"/>
            <a:chOff x="0" y="0"/>
            <a:chExt cx="3663950" cy="4923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51216" t="0" r="-51216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0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395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543131" y="9544050"/>
            <a:ext cx="2087283" cy="521821"/>
          </a:xfrm>
          <a:custGeom>
            <a:avLst/>
            <a:gdLst/>
            <a:ahLst/>
            <a:cxnLst/>
            <a:rect r="r" b="b" t="t" l="l"/>
            <a:pathLst>
              <a:path h="521821" w="2087283">
                <a:moveTo>
                  <a:pt x="0" y="0"/>
                </a:moveTo>
                <a:lnTo>
                  <a:pt x="2087283" y="0"/>
                </a:lnTo>
                <a:lnTo>
                  <a:pt x="2087283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67391" y="2134572"/>
            <a:ext cx="7996987" cy="6599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28389" indent="-314195" lvl="1">
              <a:lnSpc>
                <a:spcPts val="3492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rial"/>
              </a:rPr>
              <a:t>Data is of secondary source and is taken from Prowess Database.</a:t>
            </a:r>
          </a:p>
          <a:p>
            <a:pPr>
              <a:lnSpc>
                <a:spcPts val="3492"/>
              </a:lnSpc>
            </a:pPr>
          </a:p>
          <a:p>
            <a:pPr marL="628389" indent="-314195" lvl="1">
              <a:lnSpc>
                <a:spcPts val="3492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rial"/>
              </a:rPr>
              <a:t>It is a</a:t>
            </a:r>
            <a:r>
              <a:rPr lang="en-US" sz="2910">
                <a:solidFill>
                  <a:srgbClr val="000000"/>
                </a:solidFill>
                <a:latin typeface="Arial"/>
              </a:rPr>
              <a:t> comprehensive and reliable database focused on Indian companies and industries.</a:t>
            </a:r>
          </a:p>
          <a:p>
            <a:pPr>
              <a:lnSpc>
                <a:spcPts val="3492"/>
              </a:lnSpc>
            </a:pPr>
          </a:p>
          <a:p>
            <a:pPr marL="628389" indent="-314195" lvl="1">
              <a:lnSpc>
                <a:spcPts val="3492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rial"/>
              </a:rPr>
              <a:t>It c</a:t>
            </a:r>
            <a:r>
              <a:rPr lang="en-US" sz="2910">
                <a:solidFill>
                  <a:srgbClr val="000000"/>
                </a:solidFill>
                <a:latin typeface="Arial"/>
              </a:rPr>
              <a:t>ontains financial and non-financial data, including annual reports, stock market information, and more.</a:t>
            </a:r>
          </a:p>
          <a:p>
            <a:pPr>
              <a:lnSpc>
                <a:spcPts val="3492"/>
              </a:lnSpc>
            </a:pPr>
          </a:p>
          <a:p>
            <a:pPr marL="628389" indent="-314195" lvl="1">
              <a:lnSpc>
                <a:spcPts val="3492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rial"/>
              </a:rPr>
              <a:t>With access to 414 chairman speeches, we have used 105 chairman speeches for our analysis.</a:t>
            </a:r>
          </a:p>
          <a:p>
            <a:pPr>
              <a:lnSpc>
                <a:spcPts val="26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894" y="408971"/>
            <a:ext cx="6937769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1C5739"/>
                </a:solidFill>
                <a:latin typeface="League Spartan"/>
              </a:rPr>
              <a:t>KEYWORD EXTRACTION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524006" y="1166259"/>
            <a:ext cx="325469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696311" y="0"/>
            <a:ext cx="3591689" cy="10287000"/>
            <a:chOff x="0" y="0"/>
            <a:chExt cx="945959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59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945959">
                  <a:moveTo>
                    <a:pt x="0" y="0"/>
                  </a:moveTo>
                  <a:lnTo>
                    <a:pt x="945959" y="0"/>
                  </a:lnTo>
                  <a:lnTo>
                    <a:pt x="945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45959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913697" y="956528"/>
            <a:ext cx="6289724" cy="8373944"/>
            <a:chOff x="0" y="0"/>
            <a:chExt cx="3663950" cy="4878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3"/>
              <a:stretch>
                <a:fillRect l="-50921" t="0" r="-50921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79666" y="1603623"/>
            <a:ext cx="5998298" cy="635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We used the Inception annotation software to extract key terms and phrases from these speeches.</a:t>
            </a:r>
          </a:p>
          <a:p>
            <a:pPr>
              <a:lnSpc>
                <a:spcPts val="3850"/>
              </a:lnSpc>
            </a:pP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Keywords extracted in the form of IOB (Inside, Outside, Beginning) tags</a:t>
            </a:r>
          </a:p>
          <a:p>
            <a:pPr>
              <a:lnSpc>
                <a:spcPts val="3850"/>
              </a:lnSpc>
            </a:pP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The software generated the output in CONLL format, presenting the extracted keywords in the format of "word _ tag."</a:t>
            </a:r>
          </a:p>
          <a:p>
            <a:pPr>
              <a:lnSpc>
                <a:spcPts val="385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7713" y="8808651"/>
            <a:ext cx="2087283" cy="521821"/>
          </a:xfrm>
          <a:custGeom>
            <a:avLst/>
            <a:gdLst/>
            <a:ahLst/>
            <a:cxnLst/>
            <a:rect r="r" b="b" t="t" l="l"/>
            <a:pathLst>
              <a:path h="521821" w="2087283">
                <a:moveTo>
                  <a:pt x="0" y="0"/>
                </a:moveTo>
                <a:lnTo>
                  <a:pt x="2087283" y="0"/>
                </a:lnTo>
                <a:lnTo>
                  <a:pt x="2087283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89304" y="2015456"/>
            <a:ext cx="8657831" cy="71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822"/>
              </a:lnSpc>
              <a:spcBef>
                <a:spcPct val="0"/>
              </a:spcBef>
            </a:pPr>
            <a:r>
              <a:rPr lang="en-US" sz="4159">
                <a:solidFill>
                  <a:srgbClr val="1C5739"/>
                </a:solidFill>
                <a:latin typeface="League Spartan"/>
              </a:rPr>
              <a:t>NAMED ENTITY RECOGNITION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4186537" y="2903931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08625" y="9258300"/>
            <a:ext cx="2087283" cy="521821"/>
          </a:xfrm>
          <a:custGeom>
            <a:avLst/>
            <a:gdLst/>
            <a:ahLst/>
            <a:cxnLst/>
            <a:rect r="r" b="b" t="t" l="l"/>
            <a:pathLst>
              <a:path h="521821" w="2087283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6537" y="1330436"/>
            <a:ext cx="3591780" cy="62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1C5739"/>
                </a:solidFill>
                <a:latin typeface="Lato Bold"/>
              </a:rPr>
              <a:t>MODELING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18220" y="3070959"/>
            <a:ext cx="9606272" cy="5629708"/>
          </a:xfrm>
          <a:custGeom>
            <a:avLst/>
            <a:gdLst/>
            <a:ahLst/>
            <a:cxnLst/>
            <a:rect r="r" b="b" t="t" l="l"/>
            <a:pathLst>
              <a:path h="5629708" w="9606272">
                <a:moveTo>
                  <a:pt x="0" y="0"/>
                </a:moveTo>
                <a:lnTo>
                  <a:pt x="9606272" y="0"/>
                </a:lnTo>
                <a:lnTo>
                  <a:pt x="9606272" y="5629709"/>
                </a:lnTo>
                <a:lnTo>
                  <a:pt x="0" y="5629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82" t="0" r="-2871" b="-7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89304" y="3543852"/>
            <a:ext cx="3694986" cy="441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000000"/>
                </a:solidFill>
                <a:latin typeface="Arial"/>
              </a:rPr>
              <a:t>Working of NER model</a:t>
            </a:r>
          </a:p>
          <a:p>
            <a:pPr>
              <a:lnSpc>
                <a:spcPts val="3850"/>
              </a:lnSpc>
              <a:spcBef>
                <a:spcPct val="0"/>
              </a:spcBef>
            </a:pP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Text Preprocessing</a:t>
            </a:r>
          </a:p>
          <a:p>
            <a:pPr>
              <a:lnSpc>
                <a:spcPts val="3850"/>
              </a:lnSpc>
            </a:pP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Entity Identification</a:t>
            </a:r>
          </a:p>
          <a:p>
            <a:pPr>
              <a:lnSpc>
                <a:spcPts val="3850"/>
              </a:lnSpc>
            </a:pP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Entity Classification</a:t>
            </a:r>
          </a:p>
          <a:p>
            <a:pPr>
              <a:lnSpc>
                <a:spcPts val="3850"/>
              </a:lnSpc>
            </a:pP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Contextual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776962" y="2046976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408625" y="9258300"/>
            <a:ext cx="2087283" cy="521821"/>
          </a:xfrm>
          <a:custGeom>
            <a:avLst/>
            <a:gdLst/>
            <a:ahLst/>
            <a:cxnLst/>
            <a:rect r="r" b="b" t="t" l="l"/>
            <a:pathLst>
              <a:path h="521821" w="2087283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00017" y="547160"/>
            <a:ext cx="3591780" cy="62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1C5739"/>
                </a:solidFill>
                <a:latin typeface="Lato Bold"/>
              </a:rPr>
              <a:t>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8632" y="3093345"/>
            <a:ext cx="11930736" cy="543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93726" indent="-296863" lvl="1">
              <a:lnSpc>
                <a:spcPts val="484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It builds on BERT and modifies key hyperparameters, removing the next-sentence pretraining objective and training with much larger mini-batches and learning rates.</a:t>
            </a:r>
          </a:p>
          <a:p>
            <a:pPr>
              <a:lnSpc>
                <a:spcPts val="4840"/>
              </a:lnSpc>
            </a:pPr>
          </a:p>
          <a:p>
            <a:pPr marL="593726" indent="-296863" lvl="1">
              <a:lnSpc>
                <a:spcPts val="484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RoBERTa has the same architecture as BERT, but uses a byte-level BPE as a tokenizer (same as GPT-2) and uses a different pretraining scheme.</a:t>
            </a:r>
          </a:p>
          <a:p>
            <a:pPr>
              <a:lnSpc>
                <a:spcPts val="4840"/>
              </a:lnSpc>
            </a:pPr>
          </a:p>
          <a:p>
            <a:pPr>
              <a:lnSpc>
                <a:spcPts val="385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99200" y="1159827"/>
            <a:ext cx="5974266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1C5739"/>
                </a:solidFill>
                <a:latin typeface="League Spartan"/>
              </a:rPr>
              <a:t>RoBERTa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0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97001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75043"/>
            <a:ext cx="6001071" cy="149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1C5739"/>
                </a:solidFill>
                <a:latin typeface="League Spartan"/>
              </a:rPr>
              <a:t>MODELING AND CHALLENGES FACED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9771" y="1899081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144000" y="560768"/>
            <a:ext cx="6850188" cy="3853183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1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16435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28700" y="5889625"/>
            <a:ext cx="6850188" cy="3853183"/>
            <a:chOff x="0" y="0"/>
            <a:chExt cx="1128903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87761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65235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7062941" y="6901229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8" y="0"/>
                </a:lnTo>
                <a:lnTo>
                  <a:pt x="392718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30733" y="1704771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54072" y="5603875"/>
            <a:ext cx="5998298" cy="441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Model overfit with 90% F1 score on training data and 39% on validation data.</a:t>
            </a:r>
          </a:p>
          <a:p>
            <a:pPr>
              <a:lnSpc>
                <a:spcPts val="3850"/>
              </a:lnSpc>
            </a:pP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RoBERTa has a limited vocabulary size of 30,000. unknown words are marked as UKN and tag is then predicted as “O”.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373060"/>
            <a:ext cx="6482908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High imbalance of tags.</a:t>
            </a: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Initially, got an F1 score of zero.</a:t>
            </a:r>
          </a:p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Difficult to tune the hyperparameters.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0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97001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26108" y="475043"/>
            <a:ext cx="6001071" cy="149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1C5739"/>
                </a:solidFill>
                <a:latin typeface="League Spartan"/>
              </a:rPr>
              <a:t>MODELING AND CHALLENGES FACED</a:t>
            </a:r>
          </a:p>
        </p:txBody>
      </p:sp>
      <p:sp>
        <p:nvSpPr>
          <p:cNvPr name="AutoShape 6" id="6"/>
          <p:cNvSpPr/>
          <p:nvPr/>
        </p:nvSpPr>
        <p:spPr>
          <a:xfrm>
            <a:off x="9227179" y="1899081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062941" y="8139479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8" y="0"/>
                </a:lnTo>
                <a:lnTo>
                  <a:pt x="392718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30733" y="560768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87948"/>
            <a:ext cx="5688422" cy="4280877"/>
          </a:xfrm>
          <a:custGeom>
            <a:avLst/>
            <a:gdLst/>
            <a:ahLst/>
            <a:cxnLst/>
            <a:rect r="r" b="b" t="t" l="l"/>
            <a:pathLst>
              <a:path h="4280877" w="5688422">
                <a:moveTo>
                  <a:pt x="0" y="0"/>
                </a:moveTo>
                <a:lnTo>
                  <a:pt x="5688422" y="0"/>
                </a:lnTo>
                <a:lnTo>
                  <a:pt x="5688422" y="4280877"/>
                </a:lnTo>
                <a:lnTo>
                  <a:pt x="0" y="4280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49329" y="5718175"/>
            <a:ext cx="7530635" cy="4266316"/>
          </a:xfrm>
          <a:custGeom>
            <a:avLst/>
            <a:gdLst/>
            <a:ahLst/>
            <a:cxnLst/>
            <a:rect r="r" b="b" t="t" l="l"/>
            <a:pathLst>
              <a:path h="4266316" w="7530635">
                <a:moveTo>
                  <a:pt x="0" y="0"/>
                </a:moveTo>
                <a:lnTo>
                  <a:pt x="7530635" y="0"/>
                </a:lnTo>
                <a:lnTo>
                  <a:pt x="7530635" y="4266316"/>
                </a:lnTo>
                <a:lnTo>
                  <a:pt x="0" y="42663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5718175"/>
            <a:ext cx="5688422" cy="4266316"/>
          </a:xfrm>
          <a:custGeom>
            <a:avLst/>
            <a:gdLst/>
            <a:ahLst/>
            <a:cxnLst/>
            <a:rect r="r" b="b" t="t" l="l"/>
            <a:pathLst>
              <a:path h="4266316" w="5688422">
                <a:moveTo>
                  <a:pt x="0" y="0"/>
                </a:moveTo>
                <a:lnTo>
                  <a:pt x="5688422" y="0"/>
                </a:lnTo>
                <a:lnTo>
                  <a:pt x="5688422" y="4266316"/>
                </a:lnTo>
                <a:lnTo>
                  <a:pt x="0" y="4266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21888" y="2373060"/>
            <a:ext cx="6482908" cy="19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</a:rPr>
              <a:t>Train loss has continuously decreased with each epoch while validation loss has increased - which is a clear sign of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930" y="170750"/>
            <a:ext cx="7450968" cy="89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660"/>
              </a:lnSpc>
              <a:spcBef>
                <a:spcPct val="0"/>
              </a:spcBef>
            </a:pPr>
            <a:r>
              <a:rPr lang="en-US" sz="4757">
                <a:solidFill>
                  <a:srgbClr val="1C5739"/>
                </a:solidFill>
                <a:latin typeface="Arial Bold"/>
              </a:rPr>
              <a:t>SUMMARIZATION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82645" y="1069082"/>
            <a:ext cx="3573769" cy="4802"/>
          </a:xfrm>
          <a:prstGeom prst="line">
            <a:avLst/>
          </a:prstGeom>
          <a:ln cap="flat" w="38100">
            <a:solidFill>
              <a:srgbClr val="1C57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5400000">
            <a:off x="8263614" y="262614"/>
            <a:ext cx="1760773" cy="18288000"/>
            <a:chOff x="0" y="0"/>
            <a:chExt cx="463743" cy="48165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743" cy="4816592"/>
            </a:xfrm>
            <a:custGeom>
              <a:avLst/>
              <a:gdLst/>
              <a:ahLst/>
              <a:cxnLst/>
              <a:rect r="r" b="b" t="t" l="l"/>
              <a:pathLst>
                <a:path h="4816592" w="463743">
                  <a:moveTo>
                    <a:pt x="0" y="0"/>
                  </a:moveTo>
                  <a:lnTo>
                    <a:pt x="463743" y="0"/>
                  </a:lnTo>
                  <a:lnTo>
                    <a:pt x="46374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6374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2620" y="1760618"/>
            <a:ext cx="8661380" cy="400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05878" indent="-302939" lvl="1">
              <a:lnSpc>
                <a:spcPts val="3928"/>
              </a:lnSpc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Arial"/>
              </a:rPr>
              <a:t>BART is a transformer encoder-encoder (seq2seq) model with a bidirectional (BERT-like) encoder and an autoregressive (GPT-like) decoder.</a:t>
            </a:r>
          </a:p>
          <a:p>
            <a:pPr>
              <a:lnSpc>
                <a:spcPts val="3928"/>
              </a:lnSpc>
            </a:pPr>
          </a:p>
          <a:p>
            <a:pPr marL="605878" indent="-302939" lvl="1">
              <a:lnSpc>
                <a:spcPts val="3928"/>
              </a:lnSpc>
              <a:buFont typeface="Arial"/>
              <a:buChar char="•"/>
            </a:pPr>
            <a:r>
              <a:rPr lang="en-US" sz="2806">
                <a:solidFill>
                  <a:srgbClr val="000000"/>
                </a:solidFill>
                <a:latin typeface="Arial"/>
              </a:rPr>
              <a:t>It's trained in two steps: first, it learns by messing up text and trying to fix it (like a puzzle), and then it learns to create new text based on the original text.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726804" y="1550618"/>
            <a:ext cx="7964812" cy="5604136"/>
          </a:xfrm>
          <a:custGeom>
            <a:avLst/>
            <a:gdLst/>
            <a:ahLst/>
            <a:cxnLst/>
            <a:rect r="r" b="b" t="t" l="l"/>
            <a:pathLst>
              <a:path h="5604136" w="7964812">
                <a:moveTo>
                  <a:pt x="0" y="0"/>
                </a:moveTo>
                <a:lnTo>
                  <a:pt x="7964812" y="0"/>
                </a:lnTo>
                <a:lnTo>
                  <a:pt x="7964812" y="5604137"/>
                </a:lnTo>
                <a:lnTo>
                  <a:pt x="0" y="5604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56" t="-6867" r="-1242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6298" y="0"/>
            <a:ext cx="3307536" cy="10910468"/>
            <a:chOff x="0" y="0"/>
            <a:chExt cx="871121" cy="287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121" cy="2873539"/>
            </a:xfrm>
            <a:custGeom>
              <a:avLst/>
              <a:gdLst/>
              <a:ahLst/>
              <a:cxnLst/>
              <a:rect r="r" b="b" t="t" l="l"/>
              <a:pathLst>
                <a:path h="2873539" w="871121">
                  <a:moveTo>
                    <a:pt x="0" y="0"/>
                  </a:moveTo>
                  <a:lnTo>
                    <a:pt x="871121" y="0"/>
                  </a:lnTo>
                  <a:lnTo>
                    <a:pt x="871121" y="2873539"/>
                  </a:lnTo>
                  <a:lnTo>
                    <a:pt x="0" y="2873539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71121" cy="294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0982" y="6311776"/>
            <a:ext cx="8720238" cy="3714079"/>
          </a:xfrm>
          <a:custGeom>
            <a:avLst/>
            <a:gdLst/>
            <a:ahLst/>
            <a:cxnLst/>
            <a:rect r="r" b="b" t="t" l="l"/>
            <a:pathLst>
              <a:path h="3714079" w="8720238">
                <a:moveTo>
                  <a:pt x="0" y="0"/>
                </a:moveTo>
                <a:lnTo>
                  <a:pt x="8720239" y="0"/>
                </a:lnTo>
                <a:lnTo>
                  <a:pt x="8720239" y="3714078"/>
                </a:lnTo>
                <a:lnTo>
                  <a:pt x="0" y="3714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6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19224">
            <a:off x="3175377" y="201217"/>
            <a:ext cx="8530198" cy="108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4"/>
              </a:lnSpc>
              <a:spcBef>
                <a:spcPct val="0"/>
              </a:spcBef>
            </a:pPr>
            <a:r>
              <a:rPr lang="en-US" sz="7220">
                <a:solidFill>
                  <a:srgbClr val="1C5739"/>
                </a:solidFill>
                <a:latin typeface="Arial Bold"/>
              </a:rPr>
              <a:t>Model Deployment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901238" y="728128"/>
            <a:ext cx="8299744" cy="9592748"/>
            <a:chOff x="0" y="0"/>
            <a:chExt cx="11066325" cy="1279033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1066325" cy="543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2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25913"/>
              <a:ext cx="11066325" cy="1206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30"/>
                </a:lnSpc>
              </a:pPr>
            </a:p>
            <a:p>
              <a:pPr marL="652451" indent="-326225" lvl="1">
                <a:lnSpc>
                  <a:spcPts val="4230"/>
                </a:lnSpc>
                <a:buFont typeface="Arial"/>
                <a:buChar char="•"/>
              </a:pPr>
              <a:r>
                <a:rPr lang="en-US" sz="3022">
                  <a:solidFill>
                    <a:srgbClr val="000000"/>
                  </a:solidFill>
                  <a:latin typeface="Arial"/>
                </a:rPr>
                <a:t>1. </a:t>
              </a:r>
              <a:r>
                <a:rPr lang="en-US" sz="3022">
                  <a:solidFill>
                    <a:srgbClr val="000000"/>
                  </a:solidFill>
                  <a:latin typeface="Arial Bold"/>
                </a:rPr>
                <a:t>User Interface</a:t>
              </a:r>
              <a:r>
                <a:rPr lang="en-US" sz="3022">
                  <a:solidFill>
                    <a:srgbClr val="000000"/>
                  </a:solidFill>
                  <a:latin typeface="Arial"/>
                </a:rPr>
                <a:t>: A user interface has been developed using Streamlit,  This interface serves as the front-end for users to interact with the model.</a:t>
              </a:r>
            </a:p>
            <a:p>
              <a:pPr>
                <a:lnSpc>
                  <a:spcPts val="4230"/>
                </a:lnSpc>
              </a:pPr>
            </a:p>
            <a:p>
              <a:pPr marL="652451" indent="-326225" lvl="1">
                <a:lnSpc>
                  <a:spcPts val="4230"/>
                </a:lnSpc>
                <a:buFont typeface="Arial"/>
                <a:buChar char="•"/>
              </a:pPr>
              <a:r>
                <a:rPr lang="en-US" sz="3022">
                  <a:solidFill>
                    <a:srgbClr val="000000"/>
                  </a:solidFill>
                  <a:latin typeface="Arial"/>
                </a:rPr>
                <a:t>2. </a:t>
              </a:r>
              <a:r>
                <a:rPr lang="en-US" sz="3022">
                  <a:solidFill>
                    <a:srgbClr val="000000"/>
                  </a:solidFill>
                  <a:latin typeface="Arial Bold"/>
                </a:rPr>
                <a:t>Input Source :</a:t>
              </a:r>
              <a:r>
                <a:rPr lang="en-US" sz="3022">
                  <a:solidFill>
                    <a:srgbClr val="000000"/>
                  </a:solidFill>
                  <a:latin typeface="Arial"/>
                </a:rPr>
                <a:t> Users access the Streamlit interface to provide text documents containing chairman speeches. </a:t>
              </a:r>
            </a:p>
            <a:p>
              <a:pPr>
                <a:lnSpc>
                  <a:spcPts val="4230"/>
                </a:lnSpc>
              </a:pPr>
            </a:p>
            <a:p>
              <a:pPr marL="652451" indent="-326225" lvl="1">
                <a:lnSpc>
                  <a:spcPts val="4230"/>
                </a:lnSpc>
                <a:buFont typeface="Arial"/>
                <a:buChar char="•"/>
              </a:pPr>
              <a:r>
                <a:rPr lang="en-US" sz="3022">
                  <a:solidFill>
                    <a:srgbClr val="000000"/>
                  </a:solidFill>
                  <a:latin typeface="Arial"/>
                </a:rPr>
                <a:t>3</a:t>
              </a:r>
              <a:r>
                <a:rPr lang="en-US" sz="3022">
                  <a:solidFill>
                    <a:srgbClr val="000000"/>
                  </a:solidFill>
                  <a:latin typeface="Arial"/>
                </a:rPr>
                <a:t>. </a:t>
              </a:r>
              <a:r>
                <a:rPr lang="en-US" sz="3022">
                  <a:solidFill>
                    <a:srgbClr val="000000"/>
                  </a:solidFill>
                  <a:latin typeface="Arial Bold"/>
                </a:rPr>
                <a:t>Data Transmission:</a:t>
              </a:r>
              <a:r>
                <a:rPr lang="en-US" sz="3022">
                  <a:solidFill>
                    <a:srgbClr val="000000"/>
                  </a:solidFill>
                  <a:latin typeface="Arial"/>
                </a:rPr>
                <a:t> Once the user submits the document, the content of the selected document is transmitted to .</a:t>
              </a:r>
            </a:p>
            <a:p>
              <a:pPr>
                <a:lnSpc>
                  <a:spcPts val="4230"/>
                </a:lnSpc>
              </a:pPr>
            </a:p>
            <a:p>
              <a:pPr marL="652451" indent="-326225" lvl="1">
                <a:lnSpc>
                  <a:spcPts val="4230"/>
                </a:lnSpc>
                <a:buFont typeface="Arial"/>
                <a:buChar char="•"/>
              </a:pPr>
              <a:r>
                <a:rPr lang="en-US" sz="3022">
                  <a:solidFill>
                    <a:srgbClr val="000000"/>
                  </a:solidFill>
                  <a:latin typeface="Arial"/>
                </a:rPr>
                <a:t>5. </a:t>
              </a:r>
              <a:r>
                <a:rPr lang="en-US" sz="3022">
                  <a:solidFill>
                    <a:srgbClr val="000000"/>
                  </a:solidFill>
                  <a:latin typeface="Arial Bold"/>
                </a:rPr>
                <a:t>Model Processing</a:t>
              </a:r>
              <a:r>
                <a:rPr lang="en-US" sz="3022">
                  <a:solidFill>
                    <a:srgbClr val="000000"/>
                  </a:solidFill>
                  <a:latin typeface="Arial"/>
                </a:rPr>
                <a:t>: The loaded content is then processed by the deployed model. </a:t>
              </a:r>
            </a:p>
            <a:p>
              <a:pPr algn="l">
                <a:lnSpc>
                  <a:spcPts val="423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434419" y="728128"/>
            <a:ext cx="5543268" cy="5123510"/>
          </a:xfrm>
          <a:custGeom>
            <a:avLst/>
            <a:gdLst/>
            <a:ahLst/>
            <a:cxnLst/>
            <a:rect r="r" b="b" t="t" l="l"/>
            <a:pathLst>
              <a:path h="5123510" w="5543268">
                <a:moveTo>
                  <a:pt x="0" y="0"/>
                </a:moveTo>
                <a:lnTo>
                  <a:pt x="5543268" y="0"/>
                </a:lnTo>
                <a:lnTo>
                  <a:pt x="5543268" y="5123510"/>
                </a:lnTo>
                <a:lnTo>
                  <a:pt x="0" y="5123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3172269" y="1288425"/>
            <a:ext cx="4265140" cy="0"/>
          </a:xfrm>
          <a:prstGeom prst="line">
            <a:avLst/>
          </a:prstGeom>
          <a:ln cap="flat" w="38100">
            <a:solidFill>
              <a:srgbClr val="1C573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221709" y="1382024"/>
            <a:ext cx="38445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422981" y="8035694"/>
            <a:ext cx="12062365" cy="1463028"/>
            <a:chOff x="0" y="0"/>
            <a:chExt cx="3176919" cy="3853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6919" cy="385324"/>
            </a:xfrm>
            <a:custGeom>
              <a:avLst/>
              <a:gdLst/>
              <a:ahLst/>
              <a:cxnLst/>
              <a:rect r="r" b="b" t="t" l="l"/>
              <a:pathLst>
                <a:path h="385324" w="3176919">
                  <a:moveTo>
                    <a:pt x="32733" y="0"/>
                  </a:moveTo>
                  <a:lnTo>
                    <a:pt x="3144186" y="0"/>
                  </a:lnTo>
                  <a:cubicBezTo>
                    <a:pt x="3152868" y="0"/>
                    <a:pt x="3161193" y="3449"/>
                    <a:pt x="3167332" y="9587"/>
                  </a:cubicBezTo>
                  <a:cubicBezTo>
                    <a:pt x="3173471" y="15726"/>
                    <a:pt x="3176919" y="24052"/>
                    <a:pt x="3176919" y="32733"/>
                  </a:cubicBezTo>
                  <a:lnTo>
                    <a:pt x="3176919" y="352591"/>
                  </a:lnTo>
                  <a:cubicBezTo>
                    <a:pt x="3176919" y="361273"/>
                    <a:pt x="3173471" y="369598"/>
                    <a:pt x="3167332" y="375737"/>
                  </a:cubicBezTo>
                  <a:cubicBezTo>
                    <a:pt x="3161193" y="381876"/>
                    <a:pt x="3152868" y="385324"/>
                    <a:pt x="3144186" y="385324"/>
                  </a:cubicBezTo>
                  <a:lnTo>
                    <a:pt x="32733" y="385324"/>
                  </a:lnTo>
                  <a:cubicBezTo>
                    <a:pt x="24052" y="385324"/>
                    <a:pt x="15726" y="381876"/>
                    <a:pt x="9587" y="375737"/>
                  </a:cubicBezTo>
                  <a:cubicBezTo>
                    <a:pt x="3449" y="369598"/>
                    <a:pt x="0" y="361273"/>
                    <a:pt x="0" y="352591"/>
                  </a:cubicBezTo>
                  <a:lnTo>
                    <a:pt x="0" y="32733"/>
                  </a:lnTo>
                  <a:cubicBezTo>
                    <a:pt x="0" y="24052"/>
                    <a:pt x="3449" y="15726"/>
                    <a:pt x="9587" y="9587"/>
                  </a:cubicBezTo>
                  <a:cubicBezTo>
                    <a:pt x="15726" y="3449"/>
                    <a:pt x="24052" y="0"/>
                    <a:pt x="32733" y="0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76919" cy="43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4433" y="2017835"/>
            <a:ext cx="17179784" cy="5053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65476" indent="-382738" lvl="1">
              <a:lnSpc>
                <a:spcPts val="4963"/>
              </a:lnSpc>
              <a:buFont typeface="Arial"/>
              <a:buChar char="•"/>
            </a:pPr>
            <a:r>
              <a:rPr lang="en-US" sz="3545">
                <a:solidFill>
                  <a:srgbClr val="000000"/>
                </a:solidFill>
                <a:latin typeface="Arial"/>
              </a:rPr>
              <a:t>This project has highlighted the importance of the Chairman's speeches as a window into the vision, goals, and communication strategies of companies. </a:t>
            </a:r>
          </a:p>
          <a:p>
            <a:pPr marL="765476" indent="-382738" lvl="1">
              <a:lnSpc>
                <a:spcPts val="4963"/>
              </a:lnSpc>
              <a:buFont typeface="Arial"/>
              <a:buChar char="•"/>
            </a:pPr>
            <a:r>
              <a:rPr lang="en-US" sz="3545">
                <a:solidFill>
                  <a:srgbClr val="000000"/>
                </a:solidFill>
                <a:latin typeface="Arial"/>
              </a:rPr>
              <a:t>The extracted keywords and summarized content offer a comprehensive understanding of the messages conveyed in these annual reports. </a:t>
            </a:r>
          </a:p>
          <a:p>
            <a:pPr marL="765476" indent="-382738" lvl="1">
              <a:lnSpc>
                <a:spcPts val="4963"/>
              </a:lnSpc>
              <a:buFont typeface="Arial"/>
              <a:buChar char="•"/>
            </a:pPr>
            <a:r>
              <a:rPr lang="en-US" sz="3545">
                <a:solidFill>
                  <a:srgbClr val="000000"/>
                </a:solidFill>
                <a:latin typeface="Arial"/>
              </a:rPr>
              <a:t>Such insights are invaluable for investors, stakeholders, and anyone interested in corporate governance and communication practices.</a:t>
            </a:r>
          </a:p>
          <a:p>
            <a:pPr marL="765476" indent="-382738" lvl="1">
              <a:lnSpc>
                <a:spcPts val="4963"/>
              </a:lnSpc>
              <a:buFont typeface="Arial"/>
              <a:buChar char="•"/>
            </a:pPr>
            <a:r>
              <a:rPr lang="en-US" sz="3545">
                <a:solidFill>
                  <a:srgbClr val="000000"/>
                </a:solidFill>
                <a:latin typeface="Arial"/>
              </a:rPr>
              <a:t>This helps with informed decision-making, benchmarking, and a deeper understanding of the priorities and trends across different sectors.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05072" y="161925"/>
            <a:ext cx="549818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760"/>
              </a:lnSpc>
              <a:spcBef>
                <a:spcPct val="0"/>
              </a:spcBef>
            </a:pPr>
            <a:r>
              <a:rPr lang="en-US" sz="7300">
                <a:solidFill>
                  <a:srgbClr val="1C5739"/>
                </a:solidFill>
                <a:latin typeface="Arial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620855" cy="10287000"/>
            <a:chOff x="0" y="0"/>
            <a:chExt cx="69026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0266" cy="2709333"/>
            </a:xfrm>
            <a:custGeom>
              <a:avLst/>
              <a:gdLst/>
              <a:ahLst/>
              <a:cxnLst/>
              <a:rect r="r" b="b" t="t" l="l"/>
              <a:pathLst>
                <a:path h="2709333" w="690266">
                  <a:moveTo>
                    <a:pt x="0" y="0"/>
                  </a:moveTo>
                  <a:lnTo>
                    <a:pt x="690266" y="0"/>
                  </a:lnTo>
                  <a:lnTo>
                    <a:pt x="69026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9026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30887" y="915582"/>
            <a:ext cx="7218503" cy="1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265"/>
              </a:lnSpc>
              <a:spcBef>
                <a:spcPct val="0"/>
              </a:spcBef>
            </a:pPr>
            <a:r>
              <a:rPr lang="en-US" sz="8046">
                <a:solidFill>
                  <a:srgbClr val="000000"/>
                </a:solidFill>
                <a:latin typeface="Arial Bold"/>
              </a:rPr>
              <a:t>FUTURE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30887" y="1857985"/>
            <a:ext cx="10991397" cy="18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3343"/>
              </a:lnSpc>
              <a:spcBef>
                <a:spcPct val="0"/>
              </a:spcBef>
            </a:pPr>
            <a:r>
              <a:rPr lang="en-US" sz="9530">
                <a:solidFill>
                  <a:srgbClr val="1C5739"/>
                </a:solidFill>
                <a:latin typeface="Arial Bold"/>
              </a:rPr>
              <a:t>SCOPE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3330927" y="3624219"/>
            <a:ext cx="9687995" cy="205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763158" y="38735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86001" y="4542933"/>
            <a:ext cx="11879214" cy="411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28473" indent="-314237" lvl="1">
              <a:lnSpc>
                <a:spcPts val="4075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rial"/>
              </a:rPr>
              <a:t>I</a:t>
            </a:r>
            <a:r>
              <a:rPr lang="en-US" sz="2910">
                <a:solidFill>
                  <a:srgbClr val="000000"/>
                </a:solidFill>
                <a:latin typeface="Arial"/>
              </a:rPr>
              <a:t>n the future, we plan to integrate test data into our training dataset for manual refinements, embracing a semi-supervised machine learning approach.</a:t>
            </a:r>
          </a:p>
          <a:p>
            <a:pPr marL="628473" indent="-314237" lvl="1">
              <a:lnSpc>
                <a:spcPts val="4075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rial"/>
              </a:rPr>
              <a:t>This method can be extended to speeches from various corporate leaders, including directors, CEOs, and CFOs.</a:t>
            </a:r>
          </a:p>
          <a:p>
            <a:pPr marL="628473" indent="-314237" lvl="1">
              <a:lnSpc>
                <a:spcPts val="4075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rial"/>
              </a:rPr>
              <a:t>We're also looking to incorporate sentiment analysis, providing deeper insights into Chairman's speeches by assessing their emotional tone and sentiment.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574421" y="4257555"/>
            <a:ext cx="4856701" cy="3085579"/>
          </a:xfrm>
          <a:custGeom>
            <a:avLst/>
            <a:gdLst/>
            <a:ahLst/>
            <a:cxnLst/>
            <a:rect r="r" b="b" t="t" l="l"/>
            <a:pathLst>
              <a:path h="3085579" w="4856701">
                <a:moveTo>
                  <a:pt x="0" y="0"/>
                </a:moveTo>
                <a:lnTo>
                  <a:pt x="4856702" y="0"/>
                </a:lnTo>
                <a:lnTo>
                  <a:pt x="4856702" y="3085579"/>
                </a:lnTo>
                <a:lnTo>
                  <a:pt x="0" y="3085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500583" y="3406870"/>
            <a:ext cx="2706695" cy="2696122"/>
            <a:chOff x="0" y="0"/>
            <a:chExt cx="6502400" cy="647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5"/>
              <a:stretch>
                <a:fillRect l="36" t="0" r="36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B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2916568" y="4292431"/>
            <a:ext cx="4856701" cy="3085579"/>
          </a:xfrm>
          <a:custGeom>
            <a:avLst/>
            <a:gdLst/>
            <a:ahLst/>
            <a:cxnLst/>
            <a:rect r="r" b="b" t="t" l="l"/>
            <a:pathLst>
              <a:path h="3085579" w="4856701">
                <a:moveTo>
                  <a:pt x="0" y="0"/>
                </a:moveTo>
                <a:lnTo>
                  <a:pt x="4856701" y="0"/>
                </a:lnTo>
                <a:lnTo>
                  <a:pt x="4856701" y="3085579"/>
                </a:lnTo>
                <a:lnTo>
                  <a:pt x="0" y="3085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6573647" y="4292431"/>
            <a:ext cx="4856701" cy="3085579"/>
          </a:xfrm>
          <a:custGeom>
            <a:avLst/>
            <a:gdLst/>
            <a:ahLst/>
            <a:cxnLst/>
            <a:rect r="r" b="b" t="t" l="l"/>
            <a:pathLst>
              <a:path h="3085579" w="4856701">
                <a:moveTo>
                  <a:pt x="0" y="0"/>
                </a:moveTo>
                <a:lnTo>
                  <a:pt x="4856701" y="0"/>
                </a:lnTo>
                <a:lnTo>
                  <a:pt x="4856701" y="3085579"/>
                </a:lnTo>
                <a:lnTo>
                  <a:pt x="0" y="3085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649954" y="3406870"/>
            <a:ext cx="2706695" cy="2696122"/>
            <a:chOff x="0" y="0"/>
            <a:chExt cx="6502400" cy="647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991571" y="3546664"/>
            <a:ext cx="2706695" cy="2696122"/>
            <a:chOff x="0" y="0"/>
            <a:chExt cx="6502400" cy="647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223" t="-10390" r="223" b="-1039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0249776" y="4292431"/>
            <a:ext cx="4856701" cy="3085579"/>
          </a:xfrm>
          <a:custGeom>
            <a:avLst/>
            <a:gdLst/>
            <a:ahLst/>
            <a:cxnLst/>
            <a:rect r="r" b="b" t="t" l="l"/>
            <a:pathLst>
              <a:path h="3085579" w="4856701">
                <a:moveTo>
                  <a:pt x="0" y="0"/>
                </a:moveTo>
                <a:lnTo>
                  <a:pt x="4856701" y="0"/>
                </a:lnTo>
                <a:lnTo>
                  <a:pt x="4856701" y="3085579"/>
                </a:lnTo>
                <a:lnTo>
                  <a:pt x="0" y="3085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1325837" y="3406870"/>
            <a:ext cx="2706695" cy="2696122"/>
            <a:chOff x="0" y="0"/>
            <a:chExt cx="6502400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8"/>
              <a:stretch>
                <a:fillRect l="223" t="-3279" r="223" b="-3279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1586068" y="-1808676"/>
            <a:ext cx="3172137" cy="4114800"/>
          </a:xfrm>
          <a:custGeom>
            <a:avLst/>
            <a:gdLst/>
            <a:ahLst/>
            <a:cxnLst/>
            <a:rect r="r" b="b" t="t" l="l"/>
            <a:pathLst>
              <a:path h="4114800" w="3172137">
                <a:moveTo>
                  <a:pt x="0" y="0"/>
                </a:moveTo>
                <a:lnTo>
                  <a:pt x="3172136" y="0"/>
                </a:lnTo>
                <a:lnTo>
                  <a:pt x="31721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874585" y="9258300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384715" y="-413585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3906855" y="4292431"/>
            <a:ext cx="4856701" cy="3085579"/>
          </a:xfrm>
          <a:custGeom>
            <a:avLst/>
            <a:gdLst/>
            <a:ahLst/>
            <a:cxnLst/>
            <a:rect r="r" b="b" t="t" l="l"/>
            <a:pathLst>
              <a:path h="3085579" w="4856701">
                <a:moveTo>
                  <a:pt x="0" y="0"/>
                </a:moveTo>
                <a:lnTo>
                  <a:pt x="4856701" y="0"/>
                </a:lnTo>
                <a:lnTo>
                  <a:pt x="4856701" y="3085579"/>
                </a:lnTo>
                <a:lnTo>
                  <a:pt x="0" y="3085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4981858" y="3546664"/>
            <a:ext cx="2706695" cy="2696122"/>
            <a:chOff x="0" y="0"/>
            <a:chExt cx="6502400" cy="647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15"/>
              <a:stretch>
                <a:fillRect l="-5168" t="0" r="-5168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BF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32770" y="6242786"/>
            <a:ext cx="2731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Ayan Roy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81625" y="6242786"/>
            <a:ext cx="251664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Krishna Pradhann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94528" y="6242786"/>
            <a:ext cx="27311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Prem Sambhaji Jadhav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40137" y="6242786"/>
            <a:ext cx="27311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Soumyojit Basu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80502" y="1698223"/>
            <a:ext cx="7845600" cy="87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62"/>
              </a:lnSpc>
              <a:spcBef>
                <a:spcPct val="0"/>
              </a:spcBef>
            </a:pPr>
            <a:r>
              <a:rPr lang="en-US" sz="5921" spc="207">
                <a:solidFill>
                  <a:srgbClr val="FFFFFF"/>
                </a:solidFill>
                <a:latin typeface="Codec Pro ExtraBold"/>
              </a:rPr>
              <a:t>Our Team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811466" y="6242786"/>
            <a:ext cx="29502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Tarun Yadav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2770" y="6795236"/>
            <a:ext cx="2731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C23009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66024" y="7128611"/>
            <a:ext cx="2731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C23016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594528" y="7204811"/>
            <a:ext cx="2731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C23021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25837" y="7333398"/>
            <a:ext cx="2731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C23032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030541" y="7061936"/>
            <a:ext cx="2731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Open Sauce"/>
              </a:rPr>
              <a:t>C23037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18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143500"/>
            <a:ext cx="18288000" cy="5143500"/>
            <a:chOff x="0" y="0"/>
            <a:chExt cx="4816593" cy="1354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072171" y="5641711"/>
            <a:ext cx="10143658" cy="137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>
                <a:solidFill>
                  <a:srgbClr val="1C5739"/>
                </a:solidFill>
                <a:latin typeface="League Spartan"/>
              </a:rPr>
              <a:t>THANK YOU</a:t>
            </a:r>
          </a:p>
        </p:txBody>
      </p:sp>
      <p:sp>
        <p:nvSpPr>
          <p:cNvPr name="AutoShape 7" id="7"/>
          <p:cNvSpPr/>
          <p:nvPr/>
        </p:nvSpPr>
        <p:spPr>
          <a:xfrm>
            <a:off x="5897880" y="6921616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DAFw_p0b5Fk</dc:identifier>
  <dcterms:modified xsi:type="dcterms:W3CDTF">2011-08-01T06:04:30Z</dcterms:modified>
  <cp:revision>1</cp:revision>
  <dc:title>Chairman Speech - Capstone</dc:title>
</cp:coreProperties>
</file>